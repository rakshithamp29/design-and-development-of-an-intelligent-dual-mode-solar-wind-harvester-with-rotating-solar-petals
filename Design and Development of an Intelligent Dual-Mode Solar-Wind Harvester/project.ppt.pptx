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418" r:id="rId2"/>
    <p:sldId id="257" r:id="rId3"/>
    <p:sldId id="419" r:id="rId4"/>
    <p:sldId id="411" r:id="rId5"/>
    <p:sldId id="420" r:id="rId6"/>
    <p:sldId id="417" r:id="rId7"/>
    <p:sldId id="412" r:id="rId8"/>
    <p:sldId id="413" r:id="rId9"/>
    <p:sldId id="421" r:id="rId10"/>
    <p:sldId id="422" r:id="rId11"/>
    <p:sldId id="423" r:id="rId12"/>
    <p:sldId id="424" r:id="rId13"/>
    <p:sldId id="432" r:id="rId14"/>
    <p:sldId id="433" r:id="rId15"/>
    <p:sldId id="425" r:id="rId16"/>
    <p:sldId id="430" r:id="rId17"/>
    <p:sldId id="426" r:id="rId18"/>
    <p:sldId id="429" r:id="rId19"/>
    <p:sldId id="427" r:id="rId20"/>
    <p:sldId id="428" r:id="rId21"/>
    <p:sldId id="431" r:id="rId22"/>
    <p:sldId id="415" r:id="rId23"/>
    <p:sldId id="434" r:id="rId24"/>
    <p:sldId id="40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A12A9-CD96-4659-ADF5-C0665384968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190C5-4BD4-4EA4-B362-D69B89A80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01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AF0D-EFD9-4A6A-9E31-828366A99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4B5E8-986C-4B0E-9FE5-0B63A6C6A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7FE63-5FC9-463D-A363-A7C5FFF5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BE2820-8AC0-4D4A-9DAC-2369CC414650}" type="datetime1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C060C-289C-4DED-A392-AD2D99050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50AC3-9863-48CE-A3D3-9C10359F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588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78A0-0EC1-4F67-9504-B4FCC30F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0DCE7-20B3-44E6-8AB7-8EA2D21B7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2E458-1BE2-4C8B-80D2-3634853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FB470B-B4DA-46E6-8221-CF4F92FE5C31}" type="datetime1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6F282-38C1-4486-ADFF-349EBA55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D20A8-D0F7-484D-8DE1-868114CB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3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86C4-9A16-4E3F-88BF-A09CFC42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BA55A-6364-4572-93E1-0840F2077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2B84E-3D4E-4DD5-AD46-C072B148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252B85-C9AC-4178-9256-BA98A8A0CFE0}" type="datetime1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15D70-2D68-4E0C-BE61-EE70D330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C9F06-DDF7-416C-9A0F-E94B24CA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C41D-4A2E-4000-87BC-A3806C6C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7B826-70F6-43AF-9C53-A70FEE64B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560A9-4F96-4B0F-8876-4781DA6F1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96E31-1BB1-4EA1-A59C-FD55E44F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C59A7E-40C6-4760-BE50-D912C923F259}" type="datetime1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BFDD3-DBF8-46FB-943C-69D25A1A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CA24B-31AD-44A9-BE1B-57FEA2BD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61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E3AB0-5F10-4499-A6DD-80034946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A5F70-6B24-4EC0-B937-7D608CF5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A93DC-1560-446D-BDBC-3116C2B66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87CF4B-8F9F-4033-9D5F-5608D8EDB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9E22E-FD47-4368-83D1-7ED7CC536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39187-B995-4642-BBC7-7AB75DB3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6E0ED-4AED-49FD-AF56-DC7E20010661}" type="datetime1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D86D71-E513-414A-A922-549CE36F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EFA2E-80B9-4E7F-A3CD-BAF26C0E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626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6E0B-99BD-44B3-B0E5-A0073F44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E3AFA-671C-4312-9846-10D3D93E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19AFF5-1CA8-4FDB-BE29-CA3ADDBE94AD}" type="datetime1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D81C0-DE32-4F5F-B33E-C9AF8AEA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45776-A3FA-4EAA-A28A-11B91092F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2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1E6BB-94D3-44EA-89CD-0784F400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 descr="A clock with a hand drawn on it&#10;&#10;Description automatically generated with low confidence">
            <a:extLst>
              <a:ext uri="{FF2B5EF4-FFF2-40B4-BE49-F238E27FC236}">
                <a16:creationId xmlns:a16="http://schemas.microsoft.com/office/drawing/2014/main" id="{05E49BC2-B403-4870-B700-BECE439CBE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275" y="114128"/>
            <a:ext cx="495260" cy="491543"/>
          </a:xfrm>
          <a:prstGeom prst="rect">
            <a:avLst/>
          </a:prstGeom>
        </p:spPr>
      </p:pic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A8BC68FE-BBFD-4EBD-8ED7-77EECC79C3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14" y="171078"/>
            <a:ext cx="509309" cy="49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9D25-ED28-4464-9392-DF81F10C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76B36-2EDE-4362-852D-58647E181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C236D-ED01-45B7-9849-88154A8D4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CDA0A-D20C-4740-963E-3D912761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31222B-5D99-403A-8B7D-93EBCFD985C3}" type="datetime1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0D08D-B032-4559-8947-98EE2608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8B956-BA7E-4B4D-A13F-64DC9774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615A-80B7-48EE-9579-C0163662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3426B-9080-4B27-AA37-5FD7FFEEC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C9786-B486-4494-A18C-409339955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C3B1-D90B-4CCF-8BE3-604ADFF4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FD3006-E393-47D3-A5DF-57494FFAD0C0}" type="datetime1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D16EA-BC5C-4410-8510-14D04DF2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0C3C1-B171-40F1-AD8E-B51B0503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71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A164-9368-4971-AC1A-97E09606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F1BE9-0F2A-4467-B70B-974B3E820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40276-716E-4F65-899D-99FE784C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119359-3CC0-44E9-87D1-DD3C30BFFFDF}" type="datetime1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3A4E9-D4F9-4316-8191-B53E9C06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2E86-3E45-425E-9EE5-DDD0710D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55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DC68F9-5202-4728-82F6-7B79BFC5C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5150A-F16C-4865-BAE7-303385499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E64EB-59FC-4AED-BD6C-94325579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41DC8F-A0FC-4694-8A1A-2F7399A23D25}" type="datetime1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18962-6B71-4CDF-AC08-EEEE58D6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099F2-6343-417F-AB0F-A7C30F42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7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61B16D-4BDD-4BF9-9F70-42B5A2E1B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A6E9-6EA6-4A65-9A66-A22F2653E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1B144-F4E3-444F-8BEA-FAF433750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44528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CC6E1-007D-4802-8EB3-467A01C6D6B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65605-572F-4F3B-A6E2-C8C5863931A2}"/>
              </a:ext>
            </a:extLst>
          </p:cNvPr>
          <p:cNvSpPr txBox="1"/>
          <p:nvPr userDrawn="1"/>
        </p:nvSpPr>
        <p:spPr>
          <a:xfrm>
            <a:off x="9401695" y="6542116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EEE, SJBIT</a:t>
            </a:r>
            <a:endParaRPr lang="en-IN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lock with a hand drawn on it&#10;&#10;Description automatically generated with low confidence">
            <a:extLst>
              <a:ext uri="{FF2B5EF4-FFF2-40B4-BE49-F238E27FC236}">
                <a16:creationId xmlns:a16="http://schemas.microsoft.com/office/drawing/2014/main" id="{18A5ABC2-A6D5-46DD-A535-2B3861060A0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275" y="114128"/>
            <a:ext cx="495260" cy="491543"/>
          </a:xfrm>
          <a:prstGeom prst="rect">
            <a:avLst/>
          </a:prstGeom>
        </p:spPr>
      </p:pic>
      <p:pic>
        <p:nvPicPr>
          <p:cNvPr id="8" name="Picture 7" descr="A picture containing diagram&#10;&#10;Description automatically generated">
            <a:extLst>
              <a:ext uri="{FF2B5EF4-FFF2-40B4-BE49-F238E27FC236}">
                <a16:creationId xmlns:a16="http://schemas.microsoft.com/office/drawing/2014/main" id="{54E27C2D-443B-4CE4-A5F1-CFABD32684A4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14" y="171078"/>
            <a:ext cx="509309" cy="49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5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D7915-C90A-89AC-1A47-21AE5D69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</a:t>
            </a:fld>
            <a:endParaRPr lang="en-IN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5EE66A-E9B0-C4D3-8437-3D9BA7EBFDE9}"/>
              </a:ext>
            </a:extLst>
          </p:cNvPr>
          <p:cNvSpPr txBox="1">
            <a:spLocks/>
          </p:cNvSpPr>
          <p:nvPr/>
        </p:nvSpPr>
        <p:spPr>
          <a:xfrm>
            <a:off x="6714717" y="4079772"/>
            <a:ext cx="4855241" cy="2387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3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by:</a:t>
            </a:r>
          </a:p>
          <a:p>
            <a:pPr algn="just"/>
            <a:r>
              <a:rPr lang="en-US" sz="23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17</a:t>
            </a:r>
          </a:p>
          <a:p>
            <a:pPr algn="just"/>
            <a:r>
              <a:rPr lang="en-US" sz="23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names with USN:</a:t>
            </a:r>
          </a:p>
          <a:p>
            <a:pPr algn="just"/>
            <a:r>
              <a:rPr lang="en-US" sz="23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Anitha (1JB23EE006)</a:t>
            </a:r>
          </a:p>
          <a:p>
            <a:pPr algn="just"/>
            <a:r>
              <a:rPr lang="en-US" sz="23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Chithra B (1JB23EE010)</a:t>
            </a:r>
          </a:p>
          <a:p>
            <a:pPr algn="just"/>
            <a:r>
              <a:rPr lang="en-US" sz="23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Rakshita </a:t>
            </a:r>
            <a:r>
              <a:rPr lang="en-US" sz="2300" b="1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Gulshansing</a:t>
            </a:r>
            <a:r>
              <a:rPr lang="en-US" sz="23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Thakur (1JB23EE037)</a:t>
            </a:r>
          </a:p>
          <a:p>
            <a:pPr algn="just"/>
            <a:r>
              <a:rPr lang="en-US" sz="23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Rakshitha MP (1JB23EE038)</a:t>
            </a:r>
          </a:p>
          <a:p>
            <a:pPr algn="r"/>
            <a:endParaRPr lang="en-US" sz="200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594218E-7A87-39C5-699E-51FEE83C1F4C}"/>
              </a:ext>
            </a:extLst>
          </p:cNvPr>
          <p:cNvSpPr txBox="1">
            <a:spLocks/>
          </p:cNvSpPr>
          <p:nvPr/>
        </p:nvSpPr>
        <p:spPr>
          <a:xfrm>
            <a:off x="4644528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8DFC4A-6975-41FF-B884-45F61E5F8595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4E3A3F-57D6-A980-E923-0FFF4EE918E6}"/>
              </a:ext>
            </a:extLst>
          </p:cNvPr>
          <p:cNvSpPr txBox="1">
            <a:spLocks/>
          </p:cNvSpPr>
          <p:nvPr/>
        </p:nvSpPr>
        <p:spPr>
          <a:xfrm>
            <a:off x="528186" y="1928120"/>
            <a:ext cx="11131419" cy="1830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br>
              <a:rPr lang="en-US" sz="4000" b="1" ker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>
                <a:solidFill>
                  <a:schemeClr val="accent1"/>
                </a:solidFill>
              </a:rPr>
              <a:t>A Dual-Mode Solar and Wind Energy Harvesting System Using Rotating Solar Petals with Automatic Mode Switching</a:t>
            </a:r>
            <a:endParaRPr lang="en-IN" sz="40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E912C-03CF-29A1-0857-8B9A5E9602EC}"/>
              </a:ext>
            </a:extLst>
          </p:cNvPr>
          <p:cNvSpPr txBox="1"/>
          <p:nvPr/>
        </p:nvSpPr>
        <p:spPr>
          <a:xfrm>
            <a:off x="1510442" y="4055249"/>
            <a:ext cx="22991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</a:p>
          <a:p>
            <a:r>
              <a:rPr 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Anusha D Y</a:t>
            </a:r>
          </a:p>
          <a:p>
            <a:r>
              <a:rPr lang="en-US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sz="20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lose-up of a certificate&#10;&#10;Description automatically generated">
            <a:extLst>
              <a:ext uri="{FF2B5EF4-FFF2-40B4-BE49-F238E27FC236}">
                <a16:creationId xmlns:a16="http://schemas.microsoft.com/office/drawing/2014/main" id="{821B649A-6DF6-9811-E3FB-208D821F97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" r="2544" b="7868"/>
          <a:stretch/>
        </p:blipFill>
        <p:spPr bwMode="auto">
          <a:xfrm>
            <a:off x="1325928" y="15925"/>
            <a:ext cx="9540143" cy="2125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528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6CD9D-7CF3-47E0-B531-D29556AE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4528" y="6311900"/>
            <a:ext cx="2743200" cy="365125"/>
          </a:xfrm>
        </p:spPr>
        <p:txBody>
          <a:bodyPr/>
          <a:lstStyle/>
          <a:p>
            <a:fld id="{A55CC6E1-007D-4802-8EB3-467A01C6D6B8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A3874-E30E-4524-B614-7C3A1F46AB47}"/>
              </a:ext>
            </a:extLst>
          </p:cNvPr>
          <p:cNvSpPr txBox="1"/>
          <p:nvPr/>
        </p:nvSpPr>
        <p:spPr>
          <a:xfrm>
            <a:off x="5136827" y="314025"/>
            <a:ext cx="175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F0129CE-9F8F-61F0-EE6E-7CD81D1A5458}"/>
              </a:ext>
            </a:extLst>
          </p:cNvPr>
          <p:cNvSpPr txBox="1"/>
          <p:nvPr/>
        </p:nvSpPr>
        <p:spPr>
          <a:xfrm>
            <a:off x="1298396" y="896210"/>
            <a:ext cx="7940351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Motivation</a:t>
            </a:r>
          </a:p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lock Diagram</a:t>
            </a:r>
          </a:p>
          <a:p>
            <a:pPr marL="53975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/>
                <a:cs typeface="Times New Roman"/>
              </a:rPr>
              <a:t>Components</a:t>
            </a:r>
          </a:p>
          <a:p>
            <a:pPr marL="53975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/>
                <a:cs typeface="Times New Roman"/>
              </a:rPr>
              <a:t>Component details &amp; Mechanical Structure</a:t>
            </a:r>
          </a:p>
          <a:p>
            <a:pPr marL="53975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/>
                <a:cs typeface="Times New Roman"/>
              </a:rPr>
              <a:t>Component details-Electrical &amp; Electronic</a:t>
            </a:r>
          </a:p>
          <a:p>
            <a:pPr marL="53975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/>
                <a:cs typeface="Times New Roman"/>
              </a:rPr>
              <a:t>3D Model Views- Petal &amp; Wind Turbine Structure</a:t>
            </a:r>
          </a:p>
          <a:p>
            <a:pPr marL="53975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/>
                <a:cs typeface="Times New Roman"/>
              </a:rPr>
              <a:t>Implementation Progress-Work Done So Far</a:t>
            </a:r>
          </a:p>
          <a:p>
            <a:pPr marL="53975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/>
                <a:cs typeface="Times New Roman"/>
              </a:rPr>
              <a:t>Expected Outcomes</a:t>
            </a:r>
          </a:p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Plan of Action</a:t>
            </a:r>
          </a:p>
          <a:p>
            <a:pPr marL="540000" indent="-342900" algn="just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6878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6CD9D-7CF3-47E0-B531-D29556AE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A3874-E30E-4524-B614-7C3A1F46AB47}"/>
              </a:ext>
            </a:extLst>
          </p:cNvPr>
          <p:cNvSpPr txBox="1"/>
          <p:nvPr/>
        </p:nvSpPr>
        <p:spPr>
          <a:xfrm>
            <a:off x="280912" y="741148"/>
            <a:ext cx="11470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1EB882-F884-3FA4-86B5-8567C55EB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03" y="1669481"/>
            <a:ext cx="1138745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growing demand for electricity and depletion of fossil fuels highlight the need for efficient renewable energy systems.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Solar and wind energy are clean and abundant but suffer from intermittency when used individually.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flower-shaped hybrid solar–wind energy system that combines both sources in a single compact structure.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operates in two automatic modes: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Solar Mode, where petals open and track the sun during daytime and Wind Mode, where petals close vertically to function as a Vertical Axis Wind Turbine during low sunlight or night</a:t>
            </a:r>
            <a:endParaRPr kumimoji="0"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solar and wind technologies, the system ensures more reliable power generation with minimal land usage, suitable for urban, rural, and off-grid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35567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06F062-77FB-4BCB-81C9-A1748A7A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136"/>
            <a:ext cx="10515600" cy="628753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 survey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B0F0F2-3DB9-4AAE-9B29-1129ED32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EFF1EE-D737-689D-C867-17767C608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29995"/>
              </p:ext>
            </p:extLst>
          </p:nvPr>
        </p:nvGraphicFramePr>
        <p:xfrm>
          <a:off x="242597" y="1310864"/>
          <a:ext cx="11709915" cy="479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2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4723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038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H. Zhang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2024</a:t>
                      </a: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Design and Dynamic Emulation of Hybrid Solar-Wind Energy Converter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  <a:cs typeface="Times New Roman"/>
                        </a:rPr>
                        <a:t>IEEE / Scientific Reports (Nature)</a:t>
                      </a: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This paper demonstrates that combining solar and wind energy improves system reliability and ensures continuous power generation under varying environmental conditions.</a:t>
                      </a:r>
                      <a:endParaRPr lang="en-US" sz="1800" b="0" i="0" u="none" strike="noStrike" noProof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0627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R. Kumar and S. Mishra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N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2022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  <a:cs typeface="Times New Roman"/>
                        </a:rPr>
                        <a:t>Hybrid Model of Vertical Axis Wind Turbine–Solar Power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  <a:cs typeface="Times New Roman"/>
                        </a:rPr>
                        <a:t>IEEE International Conference</a:t>
                      </a: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The study shows that integrating VAWT with solar panels provides compact and efficient renewable energy generation suitable for urban installations.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buNone/>
                      </a:pPr>
                      <a:endParaRPr lang="en-IN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56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7278E2-088A-E9E2-4FCE-59EF240F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E2445C-7291-F705-276E-378CC2268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443940"/>
              </p:ext>
            </p:extLst>
          </p:nvPr>
        </p:nvGraphicFramePr>
        <p:xfrm>
          <a:off x="768941" y="1390261"/>
          <a:ext cx="10494373" cy="4436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2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535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7229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Chen, L., Zhang, D., and Wong, K.</a:t>
                      </a:r>
                      <a:endParaRPr lang="en-US" sz="180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2022</a:t>
                      </a:r>
                      <a:endParaRPr lang="en-IN" b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IoT-Based Real-Time Monitoring Framework for Distributed Renewable Energy Systems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Sensors Journal</a:t>
                      </a:r>
                      <a:endParaRPr lang="en-IN" b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paper presents cloud-based real-time monitoring and data analytics for renewable energy systems, improving remote monitoring and maintenance efficiency.</a:t>
                      </a:r>
                      <a:endParaRPr lang="en-US" sz="180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8895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  <a:cs typeface="Times New Roman"/>
                        </a:rPr>
                        <a:t>S. Diaf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2021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Solar-Wind Hybrid Energy Generation System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IEEE Conference Proceedings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cs typeface="Times New Roman"/>
                        </a:rPr>
                        <a:t>The study concludes that hybrid solar-wind systems improve power reliability and reduce the intermittency associated with standalone renewable energy sources.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84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7A9F-8BEA-46E1-9ACF-433055A2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065" y="359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b="1">
                <a:latin typeface="Times New Roman" panose="02020603050405020304" pitchFamily="18" charset="0"/>
              </a:rPr>
              <a:t>Challenges and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B95EA9-C1D9-4194-8594-26754B68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EB675-7BFD-1528-9D3C-E7879D4733AF}"/>
              </a:ext>
            </a:extLst>
          </p:cNvPr>
          <p:cNvSpPr txBox="1"/>
          <p:nvPr/>
        </p:nvSpPr>
        <p:spPr>
          <a:xfrm>
            <a:off x="438538" y="1633638"/>
            <a:ext cx="11476653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Separate solar and wind infrastructures increase system complexity.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Higher installation cost and land requirements.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Maintenance effort is high in conventional hybrid systems.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Lack of adaptive transformation mechanisms.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/>
                <a:cs typeface="Times New Roman"/>
              </a:rPr>
              <a:t>Motivation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Reduce system complexity and hardware redundancy.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Enable compact renewable energy solutions.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Demonstrate adaptive mechanical transformation.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Integrate IoT-based monitoring and intelligent control.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Provide cost-effective renewable energy generation.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3540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91326-4C1C-4568-A5F6-0C1224D1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E1DDFB-35F8-4EDD-9631-25BED3A1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28" y="4938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endParaRPr lang="en-IN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93EABB-3779-3C99-ECA8-B3779380335B}"/>
              </a:ext>
            </a:extLst>
          </p:cNvPr>
          <p:cNvSpPr txBox="1"/>
          <p:nvPr/>
        </p:nvSpPr>
        <p:spPr>
          <a:xfrm>
            <a:off x="326571" y="1819420"/>
            <a:ext cx="11422787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Design and develop an adaptive dual-mode hybrid energy harvesting system using a single integrated structure.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Implement automatic switching between solar and wind modes using intelligent sensor-based control.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Optimize energy generation through efficient power conditioning and energy storage. 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Integrate IoT-based real-time monitoring and control through a cloud-connected dashboard.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altLang="en-US" sz="2400" dirty="0">
              <a:latin typeface="Times New Roman"/>
              <a:cs typeface="Times New Roman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1F39E48-8FF6-59A7-4B4F-C196963AE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1" y="3393036"/>
            <a:ext cx="1100234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77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6E8B8A-58C6-44EE-95DD-16D225E0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ED9B0F-84CF-4928-B42E-F5C491843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870"/>
            <a:ext cx="10515600" cy="1325563"/>
          </a:xfrm>
        </p:spPr>
        <p:txBody>
          <a:bodyPr>
            <a:normAutofit fontScale="90000"/>
          </a:bodyPr>
          <a:lstStyle/>
          <a:p>
            <a:pPr algn="just"/>
            <a:br>
              <a:rPr lang="en-US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Methodology</a:t>
            </a:r>
            <a:br>
              <a:rPr lang="en-US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sz="3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9337F9-D839-3396-3F97-55F79D8FF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802" y="3616858"/>
            <a:ext cx="115806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E19369C-AEA3-3D80-78BC-32BB402DBE7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5801" y="1908698"/>
            <a:ext cx="1158065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Design adaptive structure using CAD tools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Solar mode: flat panel configuration for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maximum sunlight</a:t>
            </a:r>
            <a:r>
              <a:rPr lang="en-US" sz="2400">
                <a:latin typeface="Times New Roman"/>
                <a:ea typeface="+mn-lt"/>
                <a:cs typeface="Times New Roman"/>
              </a:rPr>
              <a:t> absorption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Wind mode: servo-actuated transformation into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turbine</a:t>
            </a:r>
            <a:r>
              <a:rPr lang="en-US" sz="2400">
                <a:latin typeface="Times New Roman"/>
                <a:ea typeface="+mn-lt"/>
                <a:cs typeface="Times New Roman"/>
              </a:rPr>
              <a:t> blade configuration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.</a:t>
            </a:r>
            <a:r>
              <a:rPr lang="en-US" sz="2400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Power generated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is </a:t>
            </a:r>
            <a:r>
              <a:rPr lang="en-US" sz="2400">
                <a:latin typeface="Times New Roman"/>
                <a:ea typeface="+mn-lt"/>
                <a:cs typeface="Times New Roman"/>
              </a:rPr>
              <a:t>regulated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using </a:t>
            </a:r>
            <a:r>
              <a:rPr lang="en-US" sz="2400">
                <a:latin typeface="Times New Roman"/>
                <a:ea typeface="+mn-lt"/>
                <a:cs typeface="Times New Roman"/>
              </a:rPr>
              <a:t>MPPT-enabled DC-DC converter.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Energy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stored in </a:t>
            </a:r>
            <a:r>
              <a:rPr lang="en-US" sz="2400">
                <a:latin typeface="Times New Roman"/>
                <a:ea typeface="+mn-lt"/>
                <a:cs typeface="Times New Roman"/>
              </a:rPr>
              <a:t>lithium-ion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latin typeface="Times New Roman"/>
                <a:ea typeface="+mn-lt"/>
                <a:cs typeface="Times New Roman"/>
              </a:rPr>
              <a:t>battery </a:t>
            </a:r>
            <a:r>
              <a:rPr lang="en-US" sz="2400">
                <a:latin typeface="Times New Roman"/>
                <a:ea typeface="+mn-lt"/>
                <a:cs typeface="Times New Roman"/>
              </a:rPr>
              <a:t>with BMS protection.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ESP32 processes LDR and anemometer data.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Intelligent algorithm performs automatic mode switching.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Firebase cloud and React dashboard provide real-time monitoring.</a:t>
            </a:r>
            <a:endParaRPr lang="en-US">
              <a:latin typeface="Times New Roman"/>
              <a:cs typeface="Times New Roman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</a:pP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811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852D44-B231-480C-1405-2160AB17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9</a:t>
            </a:fld>
            <a:endParaRPr lang="en-IN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454130A-0B15-D9A1-212D-8D846ADBF1A3}"/>
              </a:ext>
            </a:extLst>
          </p:cNvPr>
          <p:cNvSpPr txBox="1">
            <a:spLocks/>
          </p:cNvSpPr>
          <p:nvPr/>
        </p:nvSpPr>
        <p:spPr>
          <a:xfrm>
            <a:off x="838200" y="204032"/>
            <a:ext cx="10515600" cy="80736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300" b="1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1F3C80-A7B7-AD1A-DCB8-3A3F2F50D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" t="509" r="2514" b="10866"/>
          <a:stretch>
            <a:fillRect/>
          </a:stretch>
        </p:blipFill>
        <p:spPr>
          <a:xfrm>
            <a:off x="2369976" y="755780"/>
            <a:ext cx="7305870" cy="555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25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D8946-5EDB-703B-E47E-88B1BAC0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10</a:t>
            </a:fld>
            <a:endParaRPr lang="en-IN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0EDC8E60-5A55-00F6-3F8A-80CC66940776}"/>
              </a:ext>
            </a:extLst>
          </p:cNvPr>
          <p:cNvSpPr txBox="1">
            <a:spLocks/>
          </p:cNvSpPr>
          <p:nvPr/>
        </p:nvSpPr>
        <p:spPr>
          <a:xfrm>
            <a:off x="758328" y="0"/>
            <a:ext cx="10515600" cy="58810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Diagram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D7587-F669-9890-A5B5-72D60D97A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" t="3768" r="3082" b="4526"/>
          <a:stretch>
            <a:fillRect/>
          </a:stretch>
        </p:blipFill>
        <p:spPr>
          <a:xfrm>
            <a:off x="0" y="658760"/>
            <a:ext cx="12113342" cy="619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69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A39E0D-9CA4-064A-5CF4-E116FB57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794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/>
                <a:ea typeface="Calibri Light"/>
                <a:cs typeface="Times New Roman"/>
              </a:rPr>
              <a:t>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819D4F-3F5C-0D7C-A586-BB653B6C4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288" y="1035536"/>
            <a:ext cx="10521863" cy="51277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F84711-AAD0-340E-50E7-6EF39AF4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650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A2093-E130-2205-D203-1346E41D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7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>
                <a:latin typeface="Times New Roman"/>
                <a:ea typeface="Calibri"/>
                <a:cs typeface="Times New Roman"/>
              </a:rPr>
              <a:t>Component Details - Mechanical &amp; Structural</a:t>
            </a:r>
            <a:br>
              <a:rPr lang="en-US" sz="3200" b="1">
                <a:latin typeface="Times New Roman"/>
                <a:ea typeface="Calibri"/>
                <a:cs typeface="Times New Roman"/>
              </a:rPr>
            </a:br>
            <a:r>
              <a:rPr lang="en-US" sz="3200" b="1">
                <a:latin typeface="Times New Roman"/>
                <a:ea typeface="Calibri"/>
                <a:cs typeface="Times New Roman"/>
              </a:rPr>
              <a:t> </a:t>
            </a:r>
            <a:endParaRPr lang="en-US">
              <a:latin typeface="Times New Roman"/>
              <a:ea typeface="Calibri Light" panose="020F0302020204030204"/>
              <a:cs typeface="Times New Roman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F15CBB-A375-5CC8-CB82-6E91E6EBF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6252" y="1079990"/>
            <a:ext cx="7753358" cy="48718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25489-57D5-2F40-B814-9358D0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74C7B-AB56-735C-146B-243D700D670B}"/>
              </a:ext>
            </a:extLst>
          </p:cNvPr>
          <p:cNvSpPr txBox="1"/>
          <p:nvPr/>
        </p:nvSpPr>
        <p:spPr>
          <a:xfrm>
            <a:off x="4643814" y="5954531"/>
            <a:ext cx="32808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ea typeface="Calibri"/>
                <a:cs typeface="Times New Roman"/>
              </a:rPr>
              <a:t>Fig: Mechanical Components</a:t>
            </a:r>
            <a:endParaRPr lang="en-US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226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4377-9804-E941-F955-0AF50349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659"/>
            <a:ext cx="10338148" cy="29216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900" b="1" dirty="0">
                <a:latin typeface="Times New Roman"/>
                <a:ea typeface="Calibri Light"/>
                <a:cs typeface="Times New Roman"/>
              </a:rPr>
              <a:t>Component Details - Mechanical &amp; Structural</a:t>
            </a:r>
            <a:br>
              <a:rPr lang="en-US" sz="2900" b="1" dirty="0">
                <a:latin typeface="Times New Roman"/>
                <a:ea typeface="Calibri Light"/>
                <a:cs typeface="Times New Roman"/>
              </a:rPr>
            </a:br>
            <a:r>
              <a:rPr lang="en-US" sz="2900" b="1" dirty="0">
                <a:latin typeface="Times New Roman"/>
                <a:ea typeface="Calibri Light"/>
                <a:cs typeface="Times New Roman"/>
              </a:rPr>
              <a:t> </a:t>
            </a:r>
            <a:endParaRPr lang="en-US" sz="2900" dirty="0">
              <a:latin typeface="Times New Roman"/>
              <a:ea typeface="Calibri Light"/>
              <a:cs typeface="Times New Roman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7618D1-B951-A87D-34F3-F8E8B95C5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3215" y="1077511"/>
            <a:ext cx="5218558" cy="49707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B70C3-C825-BF8A-2533-B5550A5C8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E18DB-150C-FA6A-840A-EF4CE705B918}"/>
              </a:ext>
            </a:extLst>
          </p:cNvPr>
          <p:cNvSpPr txBox="1"/>
          <p:nvPr/>
        </p:nvSpPr>
        <p:spPr>
          <a:xfrm>
            <a:off x="4645030" y="6045652"/>
            <a:ext cx="32123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ea typeface="+mn-lt"/>
                <a:cs typeface="Times New Roman"/>
              </a:rPr>
              <a:t>Fig: Electrical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 Components</a:t>
            </a:r>
            <a:endParaRPr lang="en-US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6390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ABA7-9A61-4C4B-071E-3FA61BE5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>
                <a:latin typeface="Times New Roman"/>
                <a:cs typeface="Times New Roman"/>
              </a:rPr>
              <a:t>Component Details - Mechanical &amp; Structural</a:t>
            </a:r>
            <a:br>
              <a:rPr lang="en-US" sz="2900" b="1" dirty="0">
                <a:latin typeface="Times New Roman"/>
                <a:cs typeface="Times New Roman"/>
              </a:rPr>
            </a:br>
            <a:endParaRPr lang="en-US" sz="2900">
              <a:latin typeface="Times New Roman"/>
              <a:cs typeface="Times New Roman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AF4F07-AB02-1010-8FEA-43C98AFDC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8916" y="1446191"/>
            <a:ext cx="7315045" cy="35862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ADA58-B998-61B0-1B2A-2C0A574E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BD121-D856-1F81-D7BE-61B45117BD97}"/>
              </a:ext>
            </a:extLst>
          </p:cNvPr>
          <p:cNvSpPr txBox="1"/>
          <p:nvPr/>
        </p:nvSpPr>
        <p:spPr>
          <a:xfrm>
            <a:off x="4004270" y="4933670"/>
            <a:ext cx="48355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ea typeface="+mn-lt"/>
                <a:cs typeface="Times New Roman"/>
              </a:rPr>
              <a:t>Fig: Communication</a:t>
            </a:r>
            <a:r>
              <a:rPr lang="en-US" b="1">
                <a:latin typeface="Times New Roman"/>
                <a:ea typeface="+mn-lt"/>
                <a:cs typeface="Times New Roman"/>
              </a:rPr>
              <a:t> and Power Distribution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46563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B0AC-3F0D-AF6D-F248-AE396A5E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93" y="354687"/>
            <a:ext cx="10515600" cy="1001974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      </a:t>
            </a:r>
            <a:r>
              <a:rPr lang="en-US" sz="3200" b="1">
                <a:latin typeface="Times New Roman"/>
                <a:ea typeface="Calibri"/>
                <a:cs typeface="Times New Roman"/>
              </a:rPr>
              <a:t>Component Details - Electrical &amp; Electronic</a:t>
            </a:r>
            <a:endParaRPr lang="en-US">
              <a:latin typeface="Times New Roman"/>
              <a:ea typeface="Calibri Light" panose="020F0302020204030204"/>
              <a:cs typeface="Times New Roman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FDDAE3-B56B-9AA0-9F55-242CE00F2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8220" y="1361813"/>
            <a:ext cx="9905998" cy="45482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F28C4-8736-FAE6-1B7E-173A914A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572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A518-CB43-D86A-37D0-64AE9510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>
                <a:latin typeface="Times New Roman"/>
                <a:ea typeface="Calibri Light"/>
                <a:cs typeface="Times New Roman"/>
              </a:rPr>
              <a:t>Software requirements and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062DB-928E-8594-4315-B7369EC4D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52"/>
            <a:ext cx="10515600" cy="464361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cs typeface="Times New Roman"/>
              </a:rPr>
              <a:t>1. Microcontroller Firmware</a:t>
            </a:r>
            <a:endParaRPr lang="en-US" b="1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ESP32 firmware collects sensor data and controls system operation using programmed decision logic.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PWM signals are used to drive servo motors and actuators for automatic mode switching and tracking.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b="1">
                <a:latin typeface="Times New Roman"/>
                <a:cs typeface="Times New Roman"/>
              </a:rPr>
              <a:t>2. Cloud Platform</a:t>
            </a:r>
            <a:endParaRPr lang="en-US" b="1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Firebase Realtime Database enables instant synchronization of data between the device and cloud.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Cloud storage provides secure access, monitoring, and management of system data from anywhere.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b="1">
                <a:latin typeface="Times New Roman"/>
                <a:cs typeface="Times New Roman"/>
              </a:rPr>
              <a:t>3. Web Dashboard</a:t>
            </a:r>
            <a:endParaRPr lang="en-US" b="1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Displays real-time system parameters such as voltage, current, battery status, and operating mode.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Provides graphical analysis, alerts, and configuration options through a responsive user interface.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35F73-E33F-5DEF-BFD3-2880EAFC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339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10E0-5711-F8FF-AA32-AEB233C9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>
                <a:latin typeface="Times New Roman"/>
                <a:ea typeface="Calibri Light"/>
                <a:cs typeface="Times New Roman"/>
              </a:rPr>
              <a:t>3D Model Views - Petal &amp; Wind Turbine Structure</a:t>
            </a:r>
            <a:endParaRPr lang="en-US">
              <a:latin typeface="Times New Roman"/>
              <a:ea typeface="Calibri Light" panose="020F0302020204030204"/>
              <a:cs typeface="Times New Roman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A641D3-2090-BBD8-3940-37E8D2292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109" y="1411575"/>
            <a:ext cx="9519780" cy="44278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5CAFF-1A63-E589-B9BC-7FBA3DCC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224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D6FE-A8B1-3F22-999E-EF065AB4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>
                <a:latin typeface="Times New Roman"/>
                <a:ea typeface="Calibri Light"/>
                <a:cs typeface="Times New Roman"/>
              </a:rPr>
              <a:t>Working model</a:t>
            </a:r>
            <a:r>
              <a:rPr lang="en-US" sz="3200" b="1">
                <a:latin typeface="Times New Roman"/>
                <a:ea typeface="Calibri"/>
                <a:cs typeface="Times New Roman"/>
              </a:rPr>
              <a:t> </a:t>
            </a:r>
            <a:r>
              <a:rPr lang="en-US" sz="3200" b="1">
                <a:latin typeface="Times New Roman"/>
                <a:ea typeface="Calibri Light"/>
                <a:cs typeface="Times New Roman"/>
              </a:rPr>
              <a:t>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6785A9-D7EF-1B44-0E4C-5401C6A2B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1927541"/>
            <a:ext cx="10521862" cy="41057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718B2-A5B8-1611-37FD-A7304C70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263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30E1-5FCE-7EF2-823B-6A6A25F3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93" y="365125"/>
            <a:ext cx="10515600" cy="709700"/>
          </a:xfrm>
        </p:spPr>
        <p:txBody>
          <a:bodyPr/>
          <a:lstStyle/>
          <a:p>
            <a:pPr algn="ctr"/>
            <a:r>
              <a:rPr lang="en-US" sz="3200" b="1">
                <a:latin typeface="Times New Roman"/>
                <a:ea typeface="Calibri"/>
                <a:cs typeface="Times New Roman"/>
              </a:rPr>
              <a:t>Implementation Progress - Work Done So Far</a:t>
            </a:r>
            <a:endParaRPr lang="en-US">
              <a:latin typeface="Times New Roman"/>
              <a:ea typeface="Calibri Light" panose="020F0302020204030204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20777-FF54-C574-1C49-415DC8E9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19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141CB8-ADC9-42C0-7C1B-0E019099D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32" y="1261954"/>
            <a:ext cx="10526038" cy="491500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Completed literature survey and analysis of hybrid renewable energy systems, adaptive structures, and IoT monitoring technologies.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Finalized the system architecture and operational methodology for the dual-mode solar–wind energy harvester. </a:t>
            </a:r>
            <a:endParaRPr lang="en-US" dirty="0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Designed the adaptive rotating petal mechanism using CAD tools.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Successfully fabricated the initial prototype frame and rotating petal assembly. </a:t>
            </a:r>
            <a:endParaRPr lang="en-US" dirty="0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Completed mechanical testing and verified stable rotation and transformation between solar and wind modes.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Integrated and tested the solar panel, wind generator, battery charging circuit, and DC-DC converter.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Implemented ESP32-based control system with LDR and wind sensing mechanisms.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Established Wi-Fi communication between ESP32 and Firebase Cloud platform.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Achieved basic real-time monitoring of voltage, current, battery status, and operating mode through the web dashboard.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Full system integration, optimization, and final performance evaluation are currently in progress.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Calibri" panose="020F050202020403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5781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FBF5-33FD-CB73-2BCD-8A67AD0F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016"/>
          </a:xfrm>
        </p:spPr>
        <p:txBody>
          <a:bodyPr/>
          <a:lstStyle/>
          <a:p>
            <a:pPr algn="ctr"/>
            <a:r>
              <a:rPr lang="en-US" sz="3200" b="1">
                <a:latin typeface="Times New Roman"/>
                <a:ea typeface="Calibri"/>
                <a:cs typeface="Times New Roman"/>
              </a:rPr>
              <a:t>Expected Outcomes</a:t>
            </a:r>
            <a:endParaRPr lang="en-US">
              <a:latin typeface="Times New Roman"/>
              <a:ea typeface="Calibri Light" panose="020F0302020204030204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DF30F-F8D2-E789-D284-1D56BFF30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53" y="1324585"/>
            <a:ext cx="11632503" cy="498807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Efficient renewable energy generation through automatic switching between solar and wind modes.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Adaptive rotating petals respond to sunlight intensity and wind speed for optimized energy harvesting.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Mode-switching accuracy greater than </a:t>
            </a:r>
            <a:r>
              <a:rPr lang="en-US" b="1">
                <a:latin typeface="Times New Roman"/>
                <a:ea typeface="+mn-lt"/>
                <a:cs typeface="Times New Roman"/>
              </a:rPr>
              <a:t>95%</a:t>
            </a:r>
            <a:r>
              <a:rPr lang="en-US">
                <a:latin typeface="Times New Roman"/>
                <a:ea typeface="+mn-lt"/>
                <a:cs typeface="Times New Roman"/>
              </a:rPr>
              <a:t> using ESP32-based intelligent control.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Solar power output of approximately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80–100 W</a:t>
            </a:r>
            <a:r>
              <a:rPr lang="en-US" dirty="0">
                <a:latin typeface="Times New Roman"/>
                <a:ea typeface="+mn-lt"/>
                <a:cs typeface="Times New Roman"/>
              </a:rPr>
              <a:t> under adequate sunlight conditions. </a:t>
            </a:r>
            <a:endParaRPr lang="en-US" dirty="0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Wind power output of approximately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45–85 W</a:t>
            </a:r>
            <a:r>
              <a:rPr lang="en-US" dirty="0">
                <a:latin typeface="Times New Roman"/>
                <a:ea typeface="+mn-lt"/>
                <a:cs typeface="Times New Roman"/>
              </a:rPr>
              <a:t> during sufficient wind conditions. </a:t>
            </a:r>
            <a:endParaRPr lang="en-US" dirty="0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MPPT-based DC-DC converter achieving energy conversion efficiency above </a:t>
            </a:r>
            <a:r>
              <a:rPr lang="en-US" b="1">
                <a:latin typeface="Times New Roman"/>
                <a:ea typeface="+mn-lt"/>
                <a:cs typeface="Times New Roman"/>
              </a:rPr>
              <a:t>90%</a:t>
            </a:r>
            <a:r>
              <a:rPr lang="en-US">
                <a:latin typeface="Times New Roman"/>
                <a:ea typeface="+mn-lt"/>
                <a:cs typeface="Times New Roman"/>
              </a:rPr>
              <a:t>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Lithium-ion battery providing reliable energy storage and backup power.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Real-time monitoring of voltage, current, battery status, and operating mode through Firebase cloud and web dashboard.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Reduced installation space and hardware redundancy compared to conventional hybrid systems.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Suitable for smart energy applications, rural electrification, and off-grid power generation.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AC922-4708-3DA6-89E1-A3B47646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217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FD5D-8840-7315-2D69-60BF4E99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0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/>
                <a:ea typeface="Calibri Light"/>
                <a:cs typeface="Times New Roman"/>
              </a:rPr>
              <a:t>Conclusion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6E11A-CE92-E473-4C7B-DAFC7FF42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0" y="1449845"/>
            <a:ext cx="10995763" cy="428870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Successfully developed an adaptive dual-mode renewable energy harvesting system combining solar and wind energy generation. 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Implemented automatic mode switching based on environmental conditions using intelligent sensor-based control.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Demonstrated the feasibility of mechanical transformation between solar and wind operating modes.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Integrated ESP32-based IoT monitoring for real-time data visualization and remote system management.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Reduced system complexity, installation space, and hardware redundancy compared to conventional hybrid systems. 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Improved operational flexibility and renewable energy utilization through intelligent control and adaptive design. </a:t>
            </a:r>
            <a:endParaRPr lang="en-US" dirty="0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Established a foundation for next-generation smart, sustainable, and cost-effective renewable energy solutions. 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Suitable for off-grid applications, rural electrification, and distributed renewable energy systems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pPr algn="just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81CFF8-5468-D9C9-05EB-BA7AD92E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883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7C88-4D92-4317-B0D2-07A357A6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 of action</a:t>
            </a:r>
            <a:endParaRPr lang="en-IN" sz="3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2BEAD-43F0-4589-96E0-AED062C6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22</a:t>
            </a:fld>
            <a:endParaRPr lang="en-IN"/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AA998A83-7918-0A04-EE14-5BCB52758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28" y="1577655"/>
            <a:ext cx="10515600" cy="45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98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5077-0197-F6FA-F267-E4D9301B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>
                <a:latin typeface="Times New Roman"/>
                <a:ea typeface="Calibri Light"/>
                <a:cs typeface="Times New Roman"/>
              </a:rPr>
              <a:t>References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306B2-7F26-B29D-89E9-A3259665C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926"/>
            <a:ext cx="1051560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514350" indent="-514350" algn="just">
              <a:buAutoNum type="romanLcPeriod"/>
            </a:pPr>
            <a:r>
              <a:rPr lang="en-US">
                <a:latin typeface="Times New Roman"/>
                <a:ea typeface="+mn-lt"/>
                <a:cs typeface="Times New Roman"/>
              </a:rPr>
              <a:t>H. Zhang et al., “Design and Dynamic Emulation of Hybrid Solar-Wind Energy Converter,” IEEE / Scientific Reports (Nature), 2024.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514350" indent="-514350" algn="just">
              <a:buAutoNum type="romanLcPeriod"/>
            </a:pPr>
            <a:r>
              <a:rPr lang="en-US">
                <a:latin typeface="Times New Roman"/>
                <a:ea typeface="+mn-lt"/>
                <a:cs typeface="Times New Roman"/>
              </a:rPr>
              <a:t>R. Kumar and S. Mishra, “Hybrid Model of Vertical Axis Wind Turbine–Solar Power Generation,” IEEE International Conference, 2022.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514350" indent="-514350" algn="just">
              <a:buAutoNum type="romanLcPeriod"/>
            </a:pPr>
            <a:r>
              <a:rPr lang="en-US">
                <a:latin typeface="Times New Roman"/>
                <a:ea typeface="+mn-lt"/>
                <a:cs typeface="Times New Roman"/>
              </a:rPr>
              <a:t>Chen, L., Zhang, D., Wong, K., and Liu, Y., “IoT-based Real-Time Monitoring Framework for Distributed Renewable Energy Systems,” Sensors, 2022.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514350" indent="-514350" algn="just">
              <a:buAutoNum type="romanLcPeriod"/>
            </a:pPr>
            <a:r>
              <a:rPr lang="en-US">
                <a:latin typeface="Times New Roman"/>
                <a:ea typeface="+mn-lt"/>
                <a:cs typeface="Times New Roman"/>
              </a:rPr>
              <a:t>S. Diaf et al., “Solar-Wind Hybrid Energy Generation System,” IEEE Conference Proceedings, 2021.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514350" indent="-514350" algn="just">
              <a:buAutoNum type="romanLcPeriod"/>
            </a:pPr>
            <a:r>
              <a:rPr lang="en-US" err="1">
                <a:latin typeface="Times New Roman"/>
                <a:ea typeface="+mn-lt"/>
                <a:cs typeface="Times New Roman"/>
              </a:rPr>
              <a:t>Espressif</a:t>
            </a:r>
            <a:r>
              <a:rPr lang="en-US">
                <a:latin typeface="Times New Roman"/>
                <a:ea typeface="+mn-lt"/>
                <a:cs typeface="Times New Roman"/>
              </a:rPr>
              <a:t> Systems, “ESP32 Series Datasheet,” Version 5.0, 2023.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514350" indent="-514350" algn="just">
              <a:buAutoNum type="romanLcPeriod"/>
            </a:pPr>
            <a:r>
              <a:rPr lang="en-US">
                <a:latin typeface="Times New Roman"/>
                <a:ea typeface="+mn-lt"/>
                <a:cs typeface="Times New Roman"/>
              </a:rPr>
              <a:t>Firebase Documentation, “Realtime Database Technical Guide,” Google Cloud Platform, 2023.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algn="just">
              <a:buAutoNum type="romanLcPeriod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3DA66A-0524-9D3B-AE16-C0C59F50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C6E1-007D-4802-8EB3-467A01C6D6B8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307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ck with a hand drawn on it&#10;&#10;Description automatically generated with low confidence">
            <a:extLst>
              <a:ext uri="{FF2B5EF4-FFF2-40B4-BE49-F238E27FC236}">
                <a16:creationId xmlns:a16="http://schemas.microsoft.com/office/drawing/2014/main" id="{A83DFFD3-A9B4-4C5E-A641-475DEA19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275" y="114128"/>
            <a:ext cx="495260" cy="491543"/>
          </a:xfrm>
          <a:prstGeom prst="rect">
            <a:avLst/>
          </a:prstGeom>
        </p:spPr>
      </p:pic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51B7EC7C-830D-4E7A-BEB7-C865F31F64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14" y="171078"/>
            <a:ext cx="509309" cy="4915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55542" y="2208236"/>
            <a:ext cx="580960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8115255-B972-4754-95CC-2A07EE4B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C4A-6975-41FF-B884-45F61E5F8595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806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</Words>
  <Application>Microsoft Office PowerPoint</Application>
  <PresentationFormat>Widescreen</PresentationFormat>
  <Paragraphs>178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Literature survey</vt:lpstr>
      <vt:lpstr>PowerPoint Presentation</vt:lpstr>
      <vt:lpstr>Challenges and Motivation</vt:lpstr>
      <vt:lpstr>Objectives</vt:lpstr>
      <vt:lpstr> Methodology </vt:lpstr>
      <vt:lpstr>PowerPoint Presentation</vt:lpstr>
      <vt:lpstr>PowerPoint Presentation</vt:lpstr>
      <vt:lpstr>Components</vt:lpstr>
      <vt:lpstr>Component Details - Mechanical &amp; Structural  </vt:lpstr>
      <vt:lpstr>Component Details - Mechanical &amp; Structural   </vt:lpstr>
      <vt:lpstr>Component Details - Mechanical &amp; Structural </vt:lpstr>
      <vt:lpstr>      Component Details - Electrical &amp; Electronic</vt:lpstr>
      <vt:lpstr>Software requirements and specifications</vt:lpstr>
      <vt:lpstr>3D Model Views - Petal &amp; Wind Turbine Structure</vt:lpstr>
      <vt:lpstr>Working model components</vt:lpstr>
      <vt:lpstr>Implementation Progress - Work Done So Far</vt:lpstr>
      <vt:lpstr>Expected Outcomes</vt:lpstr>
      <vt:lpstr>Conclusion</vt:lpstr>
      <vt:lpstr>Plan of action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Project  VI sem and Final Year students</dc:title>
  <dc:creator>M.J Chandrashekar, ASSOCIATE PROFESSOR, EEE</dc:creator>
  <cp:lastModifiedBy>mprakshitha4@gmail.com</cp:lastModifiedBy>
  <cp:revision>2</cp:revision>
  <dcterms:created xsi:type="dcterms:W3CDTF">2021-09-30T03:44:00Z</dcterms:created>
  <dcterms:modified xsi:type="dcterms:W3CDTF">2026-06-11T17:53:06Z</dcterms:modified>
</cp:coreProperties>
</file>